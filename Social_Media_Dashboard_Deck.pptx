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6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14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Social Media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600" b="0">
                <a:solidFill>
                  <a:srgbClr val="BFDBFE"/>
                </a:solidFill>
                <a:latin typeface="Aptos"/>
              </a:rPr>
              <a:t>Performance overview | Q3 campaign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4937760" cy="21945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FFFFFF"/>
                </a:solidFill>
              </a:rPr>
              <a:t>9.42M</a:t>
            </a:r>
          </a:p>
          <a:p>
            <a:r>
              <a:rPr sz="1600">
                <a:solidFill>
                  <a:srgbClr val="FFFFFF"/>
                </a:solidFill>
              </a:rPr>
              <a:t>Total followers across six platforms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240280"/>
            <a:ext cx="22860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Aptos"/>
              </a:rPr>
              <a:t>Top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651760"/>
            <a:ext cx="2286000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YouTube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240280"/>
            <a:ext cx="27432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Aptos"/>
              </a:rPr>
              <a:t>Avg 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51760"/>
            <a:ext cx="2743200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16.7%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228600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BFDBFE"/>
                </a:solidFill>
                <a:latin typeface="Aptos"/>
              </a:rPr>
              <a:t>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228600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14.6M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663440"/>
            <a:ext cx="182880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BFDBFE"/>
                </a:solidFill>
                <a:latin typeface="Aptos"/>
              </a:rPr>
              <a:t>Likes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983480"/>
            <a:ext cx="182880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1.6M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663440"/>
            <a:ext cx="256032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BFDBFE"/>
                </a:solidFill>
                <a:latin typeface="Aptos"/>
              </a:rPr>
              <a:t>Best engagement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983480"/>
            <a:ext cx="256032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Twitter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BFDBFE"/>
                </a:solidFill>
                <a:latin typeface="Aptos"/>
              </a:rPr>
              <a:t>Prepared from live dashboard metrics in the project data source.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600" b="1">
                <a:solidFill>
                  <a:srgbClr val="1A2335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Key metrics from the full dashboard portfolio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0116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/>
            <a:r>
              <a:rPr sz="1200" b="0">
                <a:solidFill>
                  <a:srgbClr val="94A3B8"/>
                </a:solidFill>
              </a:rPr>
              <a:t>Followers</a:t>
            </a:r>
          </a:p>
          <a:p>
            <a:pPr algn="l">
              <a:spcBef>
                <a:spcPts val="400"/>
              </a:spcBef>
            </a:pPr>
            <a:r>
              <a:rPr sz="2400" b="1">
                <a:solidFill>
                  <a:srgbClr val="1A2335"/>
                </a:solidFill>
              </a:rPr>
              <a:t>9.42M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15184"/>
            <a:ext cx="201168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0" y="1371600"/>
            <a:ext cx="20116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3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/>
            <a:r>
              <a:rPr sz="1200" b="0">
                <a:solidFill>
                  <a:srgbClr val="94A3B8"/>
                </a:solidFill>
              </a:rPr>
              <a:t>Likes</a:t>
            </a:r>
          </a:p>
          <a:p>
            <a:pPr algn="l">
              <a:spcBef>
                <a:spcPts val="400"/>
              </a:spcBef>
            </a:pPr>
            <a:r>
              <a:rPr sz="2400" b="1">
                <a:solidFill>
                  <a:srgbClr val="1A2335"/>
                </a:solidFill>
              </a:rPr>
              <a:t>1.63M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615184"/>
            <a:ext cx="2011680" cy="109728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0" y="1371600"/>
            <a:ext cx="20116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/>
            <a:r>
              <a:rPr sz="1200" b="0">
                <a:solidFill>
                  <a:srgbClr val="94A3B8"/>
                </a:solidFill>
              </a:rPr>
              <a:t>Engagement</a:t>
            </a:r>
          </a:p>
          <a:p>
            <a:pPr algn="l">
              <a:spcBef>
                <a:spcPts val="400"/>
              </a:spcBef>
            </a:pPr>
            <a:r>
              <a:rPr sz="2400" b="1">
                <a:solidFill>
                  <a:srgbClr val="1A2335"/>
                </a:solidFill>
              </a:rPr>
              <a:t>16.7%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2615184"/>
            <a:ext cx="20116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79" y="1371600"/>
            <a:ext cx="20116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/>
            <a:r>
              <a:rPr sz="1200" b="0">
                <a:solidFill>
                  <a:srgbClr val="94A3B8"/>
                </a:solidFill>
              </a:rPr>
              <a:t>Reach</a:t>
            </a:r>
          </a:p>
          <a:p>
            <a:pPr algn="l">
              <a:spcBef>
                <a:spcPts val="400"/>
              </a:spcBef>
            </a:pPr>
            <a:r>
              <a:rPr sz="2400" b="1">
                <a:solidFill>
                  <a:srgbClr val="1A2335"/>
                </a:solidFill>
              </a:rPr>
              <a:t>14.6M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615184"/>
            <a:ext cx="2011680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0" y="1371600"/>
            <a:ext cx="18288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/>
            <a:r>
              <a:rPr sz="1200" b="0">
                <a:solidFill>
                  <a:srgbClr val="94A3B8"/>
                </a:solidFill>
              </a:rPr>
              <a:t>Leader</a:t>
            </a:r>
          </a:p>
          <a:p>
            <a:pPr algn="l">
              <a:spcBef>
                <a:spcPts val="400"/>
              </a:spcBef>
            </a:pPr>
            <a:r>
              <a:rPr sz="2400" b="1">
                <a:solidFill>
                  <a:srgbClr val="1A2335"/>
                </a:solidFill>
              </a:rPr>
              <a:t>YouTube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2615184"/>
            <a:ext cx="1828800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52120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A2335"/>
                </a:solidFill>
              </a:rPr>
              <a:t>Performance highlights</a:t>
            </a:r>
          </a:p>
          <a:p>
            <a:r>
              <a:rPr sz="1400">
                <a:solidFill>
                  <a:srgbClr val="1A2335"/>
                </a:solidFill>
              </a:rPr>
              <a:t>• YouTube leads in audience size with 2.6M followers.</a:t>
            </a:r>
          </a:p>
          <a:p>
            <a:r>
              <a:rPr sz="1400">
                <a:solidFill>
                  <a:srgbClr val="1A2335"/>
                </a:solidFill>
              </a:rPr>
              <a:t>• Twitter produces the strongest engagement rate at 21.1%.</a:t>
            </a:r>
          </a:p>
          <a:p>
            <a:r>
              <a:rPr sz="1400">
                <a:solidFill>
                  <a:srgbClr val="1A2335"/>
                </a:solidFill>
              </a:rPr>
              <a:t>• TikTok drives the highest campaign reach and impression volume.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66160"/>
            <a:ext cx="91440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566160"/>
            <a:ext cx="91440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Followers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931920"/>
            <a:ext cx="141732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1A2335"/>
                </a:solidFill>
                <a:latin typeface="Aptos"/>
              </a:rPr>
              <a:t>Instagram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977640"/>
            <a:ext cx="420624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3977640"/>
            <a:ext cx="2992901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618720" y="3931920"/>
            <a:ext cx="73152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A2335"/>
                </a:solidFill>
                <a:latin typeface="Aptos"/>
              </a:rPr>
              <a:t>1,850,000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61688"/>
            <a:ext cx="141732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1A2335"/>
                </a:solidFill>
                <a:latin typeface="Aptos"/>
              </a:rPr>
              <a:t>Facebook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4407408"/>
            <a:ext cx="420624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4407408"/>
            <a:ext cx="202223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18720" y="4361688"/>
            <a:ext cx="73152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A2335"/>
                </a:solidFill>
                <a:latin typeface="Aptos"/>
              </a:rPr>
              <a:t>1,250,000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91456"/>
            <a:ext cx="141732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1A2335"/>
                </a:solidFill>
                <a:latin typeface="Aptos"/>
              </a:rPr>
              <a:t>Twitter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4837176"/>
            <a:ext cx="420624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4837176"/>
            <a:ext cx="158542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618720" y="4791456"/>
            <a:ext cx="73152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A2335"/>
                </a:solidFill>
                <a:latin typeface="Aptos"/>
              </a:rPr>
              <a:t>980,000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221224"/>
            <a:ext cx="141732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1A2335"/>
                </a:solidFill>
                <a:latin typeface="Aptos"/>
              </a:rPr>
              <a:t>LinkedIn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5266944"/>
            <a:ext cx="420624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5266944"/>
            <a:ext cx="1035382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618720" y="5221224"/>
            <a:ext cx="73152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A2335"/>
                </a:solidFill>
                <a:latin typeface="Aptos"/>
              </a:rPr>
              <a:t>640,000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50992"/>
            <a:ext cx="141732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1A2335"/>
                </a:solidFill>
                <a:latin typeface="Aptos"/>
              </a:rPr>
              <a:t>TikTok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5696712"/>
            <a:ext cx="420624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5696712"/>
            <a:ext cx="3397347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618720" y="5650992"/>
            <a:ext cx="73152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A2335"/>
                </a:solidFill>
                <a:latin typeface="Aptos"/>
              </a:rPr>
              <a:t>2,100,000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080759"/>
            <a:ext cx="141732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1A2335"/>
                </a:solidFill>
                <a:latin typeface="Aptos"/>
              </a:rPr>
              <a:t>YouTube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6126479"/>
            <a:ext cx="420624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6126479"/>
            <a:ext cx="420624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618720" y="6080759"/>
            <a:ext cx="73152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A2335"/>
                </a:solidFill>
                <a:latin typeface="Aptos"/>
              </a:rPr>
              <a:t>2,600,000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600" b="1">
                <a:solidFill>
                  <a:srgbClr val="1A2335"/>
                </a:solidFill>
                <a:latin typeface="Aptos"/>
              </a:rPr>
              <a:t>Platform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Followers by platform and engagement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55448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0">
                <a:solidFill>
                  <a:srgbClr val="1A2335"/>
                </a:solidFill>
                <a:latin typeface="Aptos"/>
              </a:rPr>
              <a:t>Instagram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1581912"/>
            <a:ext cx="53035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68880" y="1581912"/>
            <a:ext cx="4" cy="201168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508760"/>
            <a:ext cx="100584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A2335"/>
                </a:solidFill>
                <a:latin typeface="Aptos"/>
              </a:rPr>
              <a:t>1.9M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508760"/>
            <a:ext cx="128016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15.2%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55448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0">
                <a:solidFill>
                  <a:srgbClr val="1A2335"/>
                </a:solidFill>
                <a:latin typeface="Aptos"/>
              </a:rPr>
              <a:t>Facebook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404872"/>
            <a:ext cx="53035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80" y="2404872"/>
            <a:ext cx="2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2331720"/>
            <a:ext cx="100584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A2335"/>
                </a:solidFill>
                <a:latin typeface="Aptos"/>
              </a:rPr>
              <a:t>1.2M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331720"/>
            <a:ext cx="128016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18.4%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155448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0">
                <a:solidFill>
                  <a:srgbClr val="1A2335"/>
                </a:solidFill>
                <a:latin typeface="Aptos"/>
              </a:rPr>
              <a:t>Twitter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3227832"/>
            <a:ext cx="53035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3227832"/>
            <a:ext cx="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3154680"/>
            <a:ext cx="100584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A2335"/>
                </a:solidFill>
                <a:latin typeface="Aptos"/>
              </a:rPr>
              <a:t>1.0M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154680"/>
            <a:ext cx="128016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21.1%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77639"/>
            <a:ext cx="155448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0">
                <a:solidFill>
                  <a:srgbClr val="1A2335"/>
                </a:solidFill>
                <a:latin typeface="Aptos"/>
              </a:rPr>
              <a:t>LinkedIn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4050791"/>
            <a:ext cx="53035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68880" y="4050791"/>
            <a:ext cx="1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3977639"/>
            <a:ext cx="100584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A2335"/>
                </a:solidFill>
                <a:latin typeface="Aptos"/>
              </a:rPr>
              <a:t>0.6M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977639"/>
            <a:ext cx="128016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14.8%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00600"/>
            <a:ext cx="155448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0">
                <a:solidFill>
                  <a:srgbClr val="1A2335"/>
                </a:solidFill>
                <a:latin typeface="Aptos"/>
              </a:rPr>
              <a:t>TikTok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4873752"/>
            <a:ext cx="53035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68880" y="4873752"/>
            <a:ext cx="4" cy="2011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4800600"/>
            <a:ext cx="100584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A2335"/>
                </a:solidFill>
                <a:latin typeface="Aptos"/>
              </a:rPr>
              <a:t>2.1M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800600"/>
            <a:ext cx="128016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17.6%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23560"/>
            <a:ext cx="155448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0">
                <a:solidFill>
                  <a:srgbClr val="1A2335"/>
                </a:solidFill>
                <a:latin typeface="Aptos"/>
              </a:rPr>
              <a:t>YouTube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5696712"/>
            <a:ext cx="53035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68880" y="5696712"/>
            <a:ext cx="5" cy="2011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0" y="5623560"/>
            <a:ext cx="100584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A2335"/>
                </a:solidFill>
                <a:latin typeface="Aptos"/>
              </a:rPr>
              <a:t>2.6M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5623560"/>
            <a:ext cx="128016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12.9%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1645920"/>
            <a:ext cx="2834640" cy="2743200"/>
          </a:xfrm>
          <a:prstGeom prst="round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FFFFFF"/>
                </a:solidFill>
              </a:rPr>
              <a:t>Quick insight</a:t>
            </a:r>
          </a:p>
          <a:p>
            <a:r>
              <a:rPr sz="1300">
                <a:solidFill>
                  <a:srgbClr val="FFFFFF"/>
                </a:solidFill>
              </a:rPr>
              <a:t>YouTube and TikTok are the strongest growth drivers for reach, while Twitter is best at engagement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600" b="1">
                <a:solidFill>
                  <a:srgbClr val="1A2335"/>
                </a:solidFill>
                <a:latin typeface="Aptos"/>
              </a:rPr>
              <a:t>Audience and content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Audience distribution and content opportunities by channel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28016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645920"/>
            <a:ext cx="137160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600" b="0">
                <a:solidFill>
                  <a:srgbClr val="1A2335"/>
                </a:solidFill>
                <a:latin typeface="Aptos"/>
              </a:rPr>
              <a:t>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645920"/>
            <a:ext cx="91440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600" b="1">
                <a:solidFill>
                  <a:srgbClr val="1A2335"/>
                </a:solidFill>
                <a:latin typeface="Aptos"/>
              </a:rPr>
              <a:t>42%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1280160" cy="4572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468880"/>
            <a:ext cx="137160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600" b="0">
                <a:solidFill>
                  <a:srgbClr val="1A2335"/>
                </a:solidFill>
                <a:latin typeface="Aptos"/>
              </a:rPr>
              <a:t>Women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468880"/>
            <a:ext cx="91440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600" b="1">
                <a:solidFill>
                  <a:srgbClr val="1A2335"/>
                </a:solidFill>
                <a:latin typeface="Aptos"/>
              </a:rPr>
              <a:t>45%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12801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3291840"/>
            <a:ext cx="137160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600" b="0">
                <a:solidFill>
                  <a:srgbClr val="1A2335"/>
                </a:solidFill>
                <a:latin typeface="Aptos"/>
              </a:rPr>
              <a:t>Children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291840"/>
            <a:ext cx="91440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600" b="1">
                <a:solidFill>
                  <a:srgbClr val="1A2335"/>
                </a:solidFill>
                <a:latin typeface="Aptos"/>
              </a:rPr>
              <a:t>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128016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4114800"/>
            <a:ext cx="137160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600" b="0">
                <a:solidFill>
                  <a:srgbClr val="1A2335"/>
                </a:solidFill>
                <a:latin typeface="Aptos"/>
              </a:rPr>
              <a:t>Other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114800"/>
            <a:ext cx="91440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600" b="1">
                <a:solidFill>
                  <a:srgbClr val="1A2335"/>
                </a:solidFill>
                <a:latin typeface="Aptos"/>
              </a:rPr>
              <a:t>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828800"/>
            <a:ext cx="4846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Quick insight</a:t>
            </a:r>
          </a:p>
          <a:p>
            <a:r>
              <a:rPr sz="1200">
                <a:solidFill>
                  <a:srgbClr val="1A2335"/>
                </a:solidFill>
              </a:rPr>
              <a:t>• Increase short-form video production on TikTok and YouTube.</a:t>
            </a:r>
          </a:p>
          <a:p>
            <a:r>
              <a:rPr sz="1200">
                <a:solidFill>
                  <a:srgbClr val="1A2335"/>
                </a:solidFill>
              </a:rPr>
              <a:t>• Support a stronger creator-led campaign mix to improve engagement.</a:t>
            </a:r>
          </a:p>
          <a:p>
            <a:r>
              <a:rPr sz="1200">
                <a:solidFill>
                  <a:srgbClr val="1A2335"/>
                </a:solidFill>
              </a:rPr>
              <a:t>• Use Twitter for conversation-driven campaigns and LinkedIn for conversion-focused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BFDBFE"/>
                </a:solidFill>
                <a:latin typeface="Aptos"/>
              </a:rPr>
              <a:t>Priority moves to optimize channel performance and scale reach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5661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3B82F6"/>
                </a:solidFill>
              </a:rPr>
              <a:t>1. Increase video spend</a:t>
            </a:r>
          </a:p>
          <a:p>
            <a:r>
              <a:rPr sz="1200">
                <a:solidFill>
                  <a:srgbClr val="1A2335"/>
                </a:solidFill>
              </a:rPr>
              <a:t>Allocate more budget to TikTok and YouTube where impression volume and reach are strongest.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828800"/>
            <a:ext cx="35661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10B981"/>
                </a:solidFill>
              </a:rPr>
              <a:t>2. Lift engagement</a:t>
            </a:r>
          </a:p>
          <a:p>
            <a:r>
              <a:rPr sz="1200">
                <a:solidFill>
                  <a:srgbClr val="1A2335"/>
                </a:solidFill>
              </a:rPr>
              <a:t>Double down on Twitter-native formats and creator partnerships to improve interaction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828800"/>
            <a:ext cx="32004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F59E0B"/>
                </a:solidFill>
              </a:rPr>
              <a:t>3. Keep cross-platform consistency</a:t>
            </a:r>
          </a:p>
          <a:p>
            <a:r>
              <a:rPr sz="1200">
                <a:solidFill>
                  <a:srgbClr val="1A2335"/>
                </a:solidFill>
              </a:rPr>
              <a:t>Use the same message with platform-specific creative variations to preserve brand recall.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3931920"/>
            <a:ext cx="4663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3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E1306C"/>
                </a:solidFill>
              </a:rPr>
              <a:t>4. Build follower growth loops</a:t>
            </a:r>
          </a:p>
          <a:p>
            <a:r>
              <a:rPr sz="1200">
                <a:solidFill>
                  <a:srgbClr val="1A2335"/>
                </a:solidFill>
              </a:rPr>
              <a:t>Prioritize audience retention and recurring post cadence to convert reach into followers.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931920"/>
            <a:ext cx="4663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0EA5E9"/>
                </a:solidFill>
              </a:rPr>
              <a:t>5. Validate creative performance</a:t>
            </a:r>
          </a:p>
          <a:p>
            <a:r>
              <a:rPr sz="1200">
                <a:solidFill>
                  <a:srgbClr val="1A2335"/>
                </a:solidFill>
              </a:rPr>
              <a:t>Review engagement and sentiment weekly to shift spend toward the best-performing content themes.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